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42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3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INSURANCE MARKET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Strategy &amp; UAE Product-Line Deep Dive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CFE2F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Task &amp;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572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GCC country should a hypothetical insurer prioritize for expansion, and — having identified the UAE as a focus market — what product-line trends should shape their UAE entry strategy?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70916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Alpen Capital — GCC Insurance Industry Report (May 2026)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Open Data — World Development Indicators, 2010–2025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of the UAE — Annual Statistical Reports, 2021–2025 editions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94960" cy="4572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FOLLOWED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148840"/>
            <a:ext cx="320040" cy="32004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4048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business task, stakeholders, and metrics (penetration, density, GWP, CAGR)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0" y="3063240"/>
            <a:ext cx="320040" cy="32004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3192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GCC-specific and macroeconomic data; evaluated and rejected weaker alternatives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0" y="3977640"/>
            <a:ext cx="320040" cy="32004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336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country names, fixed data types, validated internal consistency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0" y="4892040"/>
            <a:ext cx="320040" cy="32004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846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51480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11 visualizations across cross-country and UAE-specific views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53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Cross-GCC Comparison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country should an insurer prioritize for expansion?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CROSS-GCC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Maturity: Penetration vs. Density</a:t>
            </a:r>
            <a:endParaRPr lang="en-US" sz="2400" dirty="0"/>
          </a:p>
        </p:txBody>
      </p:sp>
      <p:pic>
        <p:nvPicPr>
          <p:cNvPr id="4" name="Image 0" descr="/home/claude/deck/images/01_mat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8523"/>
            <a:ext cx="7955280" cy="480391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leads the GCC on both insurance penetration (3.58%) and density ($1,799) — roughly double the next-highest country on each metric, indicating a mature, well-established market.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CROSS-GCC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Size by Country</a:t>
            </a:r>
            <a:endParaRPr lang="en-US" sz="2400" dirty="0"/>
          </a:p>
        </p:txBody>
      </p:sp>
      <p:pic>
        <p:nvPicPr>
          <p:cNvPr id="4" name="Image 0" descr="/home/claude/deck/images/02_market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7272"/>
            <a:ext cx="7955280" cy="46064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and UAE together account for 85.4% of total GCC insurance premium. Saudi Arabia is the largest single market — a still-developing market with more room to expand than UAE.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CROSS-GCC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 vs. Insurance Adoption</a:t>
            </a:r>
            <a:endParaRPr lang="en-US" sz="2400" dirty="0"/>
          </a:p>
        </p:txBody>
      </p:sp>
      <p:pic>
        <p:nvPicPr>
          <p:cNvPr id="4" name="Image 0" descr="/home/claude/deck/images/03_quadr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101" y="1417320"/>
            <a:ext cx="6883237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combines the GCC's highest GDP per capita with its lowest penetration — a wealth/adoption gap likely explained by structural factors (small population, free public healthcare, smaller expat base) rather than an immediately addressable opportunity.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CROSS-GCC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Insurance Share by Country</a:t>
            </a:r>
            <a:endParaRPr lang="en-US" sz="2400" dirty="0"/>
          </a:p>
        </p:txBody>
      </p:sp>
      <p:pic>
        <p:nvPicPr>
          <p:cNvPr id="4" name="Image 0" descr="/home/claude/deck/images/04_life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1266"/>
            <a:ext cx="7955280" cy="45984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has the highest life insurance share of any GCC market on regional data (17.1%), nearly double Kuwait's (8.7%) — though UAE-specific regulator data suggests a lower figure (~11.2%), an unreconciled source discrepancy (see Appendix).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CROSS-GCC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 per Capita Trends, 2010–2025</a:t>
            </a:r>
            <a:endParaRPr lang="en-US" sz="2400" dirty="0"/>
          </a:p>
        </p:txBody>
      </p:sp>
      <p:pic>
        <p:nvPicPr>
          <p:cNvPr id="4" name="Image 0" descr="/home/claude/deck/images/08_gdp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07" y="1417320"/>
            <a:ext cx="7473025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and Kuwait show pronounced boom-bust volatility tied to hydrocarbon cycles. UAE and Saudi Arabia show more stable, gradually recovering paths — UAE's current high penetration sits on a comparatively stable wealth foundation.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CROSS-GCC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Growth Rate, 2010–2025</a:t>
            </a:r>
            <a:endParaRPr lang="en-US" sz="2400" dirty="0"/>
          </a:p>
        </p:txBody>
      </p:sp>
      <p:pic>
        <p:nvPicPr>
          <p:cNvPr id="4" name="Image 0" descr="/home/claude/deck/images/11_population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99" y="1417320"/>
            <a:ext cx="4448922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shows the GCC's fastest population growth (4.7% CAGR) despite ranking lowest on wealth and penetration — a growing customer base not yet reflected in current insurance metrics, distinct from Qatar's wealth-adoption gap.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53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UAE Deep Dive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product-line trends should shape UAE entry strategy?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Composition by Line, 2025</a:t>
            </a:r>
            <a:endParaRPr lang="en-US" sz="2400" dirty="0"/>
          </a:p>
        </p:txBody>
      </p:sp>
      <p:pic>
        <p:nvPicPr>
          <p:cNvPr id="4" name="Image 0" descr="/home/claude/deck/images/09_tre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22462"/>
            <a:ext cx="7955280" cy="48360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alone accounts for $9,918M — nearly half (48.7%) of UAE's total 2025 market. Motor &amp; Transportation ($2,744M) is the second-largest line, ahead of Fire, Other, and Individual Life.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Growth by Segment, 2021–2025</a:t>
            </a:r>
            <a:endParaRPr lang="en-US" sz="2400" dirty="0"/>
          </a:p>
        </p:txBody>
      </p:sp>
      <p:pic>
        <p:nvPicPr>
          <p:cNvPr id="4" name="Image 0" descr="/home/claude/deck/images/05_ua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4602"/>
            <a:ext cx="7955280" cy="46117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UAE's total market grew 69% from 2021–2025 ($12.1B → $20.4B). Health insurance is the single largest and fastest-growing segment, now representing nearly half of total GWP.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&amp; Liability Sub-Lines</a:t>
            </a:r>
            <a:endParaRPr lang="en-US" sz="2400" dirty="0"/>
          </a:p>
        </p:txBody>
      </p:sp>
      <p:pic>
        <p:nvPicPr>
          <p:cNvPr id="4" name="Image 0" descr="/home/claude/deck/images/06_pl_sub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4602"/>
            <a:ext cx="7955280" cy="46117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&amp; Transportation grew 113% over the period — the fastest-growing line by both growth rate and CAGR, and the largest non-life line throughout the period.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Insurance Sub-Lines</a:t>
            </a:r>
            <a:endParaRPr lang="en-US" sz="2400" dirty="0"/>
          </a:p>
        </p:txBody>
      </p:sp>
      <p:pic>
        <p:nvPicPr>
          <p:cNvPr id="4" name="Image 0" descr="/home/claude/deck/images/07_life_sub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4602"/>
            <a:ext cx="7955280" cy="46117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Life declined 28% from 2021–2023 before recovering. Group Life grew steadily throughout — group products show more resilience than individual/retail life demand.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Line CAGR, 2021–2025</a:t>
            </a:r>
            <a:endParaRPr lang="en-US" sz="2400" dirty="0"/>
          </a:p>
        </p:txBody>
      </p:sp>
      <p:pic>
        <p:nvPicPr>
          <p:cNvPr id="4" name="Image 0" descr="/home/claude/deck/images/10_cagr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711"/>
            <a:ext cx="8138160" cy="411433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926080" cy="48463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194560"/>
            <a:ext cx="2514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confirmed as top performer on both measures: 20.8% CAGR, not just an artifact of a small base. Annuities, Group Credit Life, and Individual Life were the only declining lines.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6177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CROSS-GCC COMPARISON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leads on penetration (3.58%) and density ($1,799) — roughly double the next country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+ UAE = 85.4% of total GCC premium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has the most diversified product mix on regional data (17.1% life share; see Appendix)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Qatar: high wealth, low penetration — likely structural, not an accessible gap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Oman: fastest population growth (4.7% CAGR), but weakest on wealth/penetration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6177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DEEP DIVE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 grew 69% (2021–2025): $12.1B → $20.4B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is the largest segment: $9.9B, 48.7% of total GWP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grew fastest by both growth rate (+113%) and CAGR (20.8%)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Life, Group Credit Life, and Annuities all declined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Life grew steadily throughout — more resilient than individual products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53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the UAE, Lead with Health &amp; Motor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429000" cy="3200400"/>
          </a:xfrm>
          <a:prstGeom prst="rect">
            <a:avLst/>
          </a:prstGeom>
          <a:solidFill>
            <a:srgbClr val="1340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3317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7432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UAE first — proven scale, highest penetration and density, a more diversified product mix than the rest of the GCC (see Appendix), and a stable (not volatile) wealth trajectory.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429000" cy="3200400"/>
          </a:xfrm>
          <a:prstGeom prst="rect">
            <a:avLst/>
          </a:prstGeom>
          <a:solidFill>
            <a:srgbClr val="1340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23317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7432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Health and Motor insurance — Health leads by absolute size, Motor leads by growth rate and CAGR, both likely aided by regulatory tailwinds.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103120"/>
            <a:ext cx="3429000" cy="3200400"/>
          </a:xfrm>
          <a:prstGeom prst="rect">
            <a:avLst/>
          </a:prstGeom>
          <a:solidFill>
            <a:srgbClr val="1340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23317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STRATEGY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7432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life insurance, prioritize Group products over individual/retail life, credit life, and annuities — more consistent growth, less disruption sensitivity.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markets to monitor: Qatar (wealth/adoption gap) and Oman (population growth) — both distinct signals, neither an immediate priority.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Further Exploration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6177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Cross-GCC comparison relies on a single-year (2025) snapshot for 5 of 6 countries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Qatar's structural explanation is based on industry knowledge, not a cited source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 detail (motor, health) available only for the UAE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CAGR reflects a 15-year average, not current momentum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life insurance share differs by source (17.1% Alpen vs. ~11.2% CBUAE) — not fully reconciled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6177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EXPLORATION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comparable line-of-business breakdown for Saudi Arabia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calendar research on mandatory health/motor coverage rollout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investigation into Qatar's insurance market structure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Oman's penetration alongside its population growth over time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Insurance Market Analysis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</Words>
  <Application>Microsoft Macintosh PowerPoint</Application>
  <PresentationFormat>Widescreen</PresentationFormat>
  <Paragraphs>154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abdalla adam</cp:lastModifiedBy>
  <cp:revision>3</cp:revision>
  <dcterms:created xsi:type="dcterms:W3CDTF">2026-09-16T10:42:47Z</dcterms:created>
  <dcterms:modified xsi:type="dcterms:W3CDTF">2026-09-16T10:50:34Z</dcterms:modified>
</cp:coreProperties>
</file>